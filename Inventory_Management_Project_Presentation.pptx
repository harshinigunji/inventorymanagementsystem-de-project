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8"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9" d="100"/>
          <a:sy n="59" d="100"/>
        </p:scale>
        <p:origin x="9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606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My project is Inventory Management Analysis and Reporting System. It is a PySpark-based data engineering project built using Azure Data Factory, Azure Databricks and Azure Data Lake Storage. The main aim is to automate the movement of source CSV files, process them, and generate dimension, fact and report outputs.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why we created this project. In real inventory systems, source files may land frequently, and manually moving files and preparing reports is slow and error-prone. So the project automates the complete flow from file upload to final reporting output.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only a PySpark coding task. It is a complete cloud data engineering project. Azure Data Factory controls the flow, Azure Databricks executes the notebook, and Azure storage keeps the source and output files.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is simple. Source CSV files are uploaded to Blob Storage. ADF detects and runs the pipeline. The pipeline copies files to ADLS and then runs the Databricks notebook. Finally, the notebook creates CSV outputs, Delta tables and report datasets.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services are Storage, Data Factory and Databricks. Storage keeps the source and output containers. Data Factory automates the activities and trigger. Databricks runs the PySpark notebook to transform the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two source files. The first file contains inventory transactions, customers, products and sellers. The second is the date table. From these inputs, the notebook builds dimension tables, a fact table and report outputs.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ADF, the pipeline has two main activities. First is Copy Data, which moves files from the Blob source to ADLS. Second is the Databricks Notebook activity, which starts only after the copy activity is successful.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automation, I configured a storage event trigger. When CSV files are uploaded to the source container, the trigger starts the ADF pipeline automatically. Then the copy activity runs, followed by Databricks notebook execution.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notebook, PySpark reads the source CSV files, checks that the required files are available, cleans date-related data, creates the inventory database, and generates dimensions, fact data and reports. Outputs are written both as CSV folders and Delta tables.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execution, I verified the ADF monitoring screen. Both activities completed successfully. Then I opened the destination container and confirmed that all dimension folders, fact folder and report folders were generated.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reports generated from the transformed data are Top 10 Customers, State-wise Orders, Payment Mode, Quarterly Profit and Quarterly Sales. I also opened the generated CSV files in Excel to confirm that the outputs are readable and correct.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project was completed successfully. The source files were uploaded, the pipeline triggered automatically, Databricks processed the data, and the final CSV and Delta outputs were verified. This makes the inventory data ready for reporting and analysis.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0" y="0"/>
            <a:ext cx="237744" cy="6858000"/>
          </a:xfrm>
          <a:prstGeom prst="rect">
            <a:avLst/>
          </a:prstGeom>
          <a:solidFill>
            <a:srgbClr val="00B8D9"/>
          </a:solidFill>
          <a:ln w="12700">
            <a:solidFill>
              <a:srgbClr val="333333">
                <a:alpha val="0"/>
              </a:srgbClr>
            </a:solidFill>
            <a:prstDash val="solid"/>
          </a:ln>
        </p:spPr>
        <p:txBody>
          <a:bodyPr/>
          <a:lstStyle/>
          <a:p>
            <a:endParaRPr lang="en-IN"/>
          </a:p>
        </p:txBody>
      </p:sp>
      <p:sp>
        <p:nvSpPr>
          <p:cNvPr id="3" name="Text 1"/>
          <p:cNvSpPr/>
          <p:nvPr/>
        </p:nvSpPr>
        <p:spPr>
          <a:xfrm>
            <a:off x="804672" y="914400"/>
            <a:ext cx="3200400" cy="274320"/>
          </a:xfrm>
          <a:prstGeom prst="rect">
            <a:avLst/>
          </a:prstGeom>
          <a:noFill/>
          <a:ln/>
        </p:spPr>
        <p:txBody>
          <a:bodyPr wrap="square" lIns="0" tIns="0" rIns="0" bIns="0" rtlCol="0" anchor="ctr"/>
          <a:lstStyle/>
          <a:p>
            <a:pPr marL="0" indent="0">
              <a:buNone/>
            </a:pPr>
            <a:r>
              <a:rPr lang="en-US" sz="1300" b="1" dirty="0">
                <a:solidFill>
                  <a:srgbClr val="00B8D9"/>
                </a:solidFill>
              </a:rPr>
              <a:t>PYSPARK PROJECT</a:t>
            </a:r>
            <a:endParaRPr lang="en-US" sz="1300" dirty="0"/>
          </a:p>
        </p:txBody>
      </p:sp>
      <p:sp>
        <p:nvSpPr>
          <p:cNvPr id="4" name="Text 2"/>
          <p:cNvSpPr/>
          <p:nvPr/>
        </p:nvSpPr>
        <p:spPr>
          <a:xfrm>
            <a:off x="777240" y="1417320"/>
            <a:ext cx="6583680" cy="1298448"/>
          </a:xfrm>
          <a:prstGeom prst="rect">
            <a:avLst/>
          </a:prstGeom>
          <a:noFill/>
          <a:ln/>
        </p:spPr>
        <p:txBody>
          <a:bodyPr wrap="square" lIns="0" tIns="0" rIns="0" bIns="0" rtlCol="0" anchor="ctr">
            <a:normAutofit/>
          </a:bodyPr>
          <a:lstStyle/>
          <a:p>
            <a:pPr marL="0" indent="0">
              <a:buNone/>
            </a:pPr>
            <a:r>
              <a:rPr lang="en-US" sz="4000" b="1" dirty="0">
                <a:solidFill>
                  <a:srgbClr val="FFFFFF"/>
                </a:solidFill>
                <a:latin typeface="Aptos Display" pitchFamily="34" charset="0"/>
                <a:ea typeface="Aptos Display" pitchFamily="34" charset="-122"/>
                <a:cs typeface="Aptos Display" pitchFamily="34" charset="-120"/>
              </a:rPr>
              <a:t>Inventory Management</a:t>
            </a:r>
            <a:endParaRPr lang="en-US" sz="4000" dirty="0"/>
          </a:p>
          <a:p>
            <a:pPr marL="0" indent="0">
              <a:buNone/>
            </a:pPr>
            <a:r>
              <a:rPr lang="en-US" sz="4000" b="1" dirty="0">
                <a:solidFill>
                  <a:srgbClr val="FFFFFF"/>
                </a:solidFill>
                <a:latin typeface="Aptos Display" pitchFamily="34" charset="0"/>
                <a:ea typeface="Aptos Display" pitchFamily="34" charset="-122"/>
                <a:cs typeface="Aptos Display" pitchFamily="34" charset="-120"/>
              </a:rPr>
              <a:t>Analysis &amp; Reporting System</a:t>
            </a:r>
            <a:endParaRPr lang="en-US" sz="4000" dirty="0"/>
          </a:p>
        </p:txBody>
      </p:sp>
      <p:sp>
        <p:nvSpPr>
          <p:cNvPr id="5" name="Text 3"/>
          <p:cNvSpPr/>
          <p:nvPr/>
        </p:nvSpPr>
        <p:spPr>
          <a:xfrm>
            <a:off x="804672" y="2926080"/>
            <a:ext cx="6309360" cy="320040"/>
          </a:xfrm>
          <a:prstGeom prst="rect">
            <a:avLst/>
          </a:prstGeom>
          <a:noFill/>
          <a:ln/>
        </p:spPr>
        <p:txBody>
          <a:bodyPr wrap="square" lIns="0" tIns="0" rIns="0" bIns="0" rtlCol="0" anchor="ctr"/>
          <a:lstStyle/>
          <a:p>
            <a:pPr marL="0" indent="0">
              <a:buNone/>
            </a:pPr>
            <a:r>
              <a:rPr lang="en-US" sz="1600" dirty="0">
                <a:solidFill>
                  <a:srgbClr val="D6E4FF"/>
                </a:solidFill>
              </a:rPr>
              <a:t>Azure Data Factory • Azure Databricks • ADLS • PySpark</a:t>
            </a:r>
            <a:endParaRPr lang="en-US" sz="1600" dirty="0"/>
          </a:p>
        </p:txBody>
      </p:sp>
      <p:sp>
        <p:nvSpPr>
          <p:cNvPr id="6" name="Text 4"/>
          <p:cNvSpPr/>
          <p:nvPr/>
        </p:nvSpPr>
        <p:spPr>
          <a:xfrm>
            <a:off x="822960" y="5394960"/>
            <a:ext cx="5120640" cy="502920"/>
          </a:xfrm>
          <a:prstGeom prst="rect">
            <a:avLst/>
          </a:prstGeom>
          <a:noFill/>
          <a:ln/>
        </p:spPr>
        <p:txBody>
          <a:bodyPr wrap="square" lIns="0" tIns="0" rIns="0" bIns="0" rtlCol="0" anchor="ctr"/>
          <a:lstStyle/>
          <a:p>
            <a:pPr marL="0" indent="0">
              <a:buNone/>
            </a:pPr>
            <a:r>
              <a:rPr lang="en-US" sz="1300" dirty="0">
                <a:solidFill>
                  <a:srgbClr val="BBD4FF"/>
                </a:solidFill>
              </a:rPr>
              <a:t>Prepared by: Harshini G</a:t>
            </a:r>
            <a:r>
              <a:rPr lang="en-US" sz="1300">
                <a:solidFill>
                  <a:srgbClr val="BBD4FF"/>
                </a:solidFill>
              </a:rPr>
              <a:t>, Prashanth R</a:t>
            </a:r>
            <a:endParaRPr lang="en-US" sz="1300" dirty="0"/>
          </a:p>
          <a:p>
            <a:pPr marL="0" indent="0">
              <a:buNone/>
            </a:pPr>
            <a:r>
              <a:rPr lang="en-US" sz="1300" dirty="0">
                <a:solidFill>
                  <a:srgbClr val="BBD4FF"/>
                </a:solidFill>
              </a:rPr>
              <a:t>Hexaware Data Engineering B5</a:t>
            </a:r>
            <a:endParaRPr lang="en-US" sz="1300" dirty="0"/>
          </a:p>
        </p:txBody>
      </p:sp>
      <p:pic>
        <p:nvPicPr>
          <p:cNvPr id="7" name="Image 0" descr="/mnt/data/docx_extract/word/media/image41.png"/>
          <p:cNvPicPr>
            <a:picLocks noChangeAspect="1"/>
          </p:cNvPicPr>
          <p:nvPr/>
        </p:nvPicPr>
        <p:blipFill>
          <a:blip r:embed="rId3"/>
          <a:srcRect l="2928" r="2928"/>
          <a:stretch/>
        </p:blipFill>
        <p:spPr>
          <a:xfrm>
            <a:off x="7498080" y="1170432"/>
            <a:ext cx="4300026" cy="2421854"/>
          </a:xfrm>
          <a:prstGeom prst="rect">
            <a:avLst/>
          </a:prstGeom>
        </p:spPr>
      </p:pic>
      <p:sp>
        <p:nvSpPr>
          <p:cNvPr id="8" name="Text 5"/>
          <p:cNvSpPr/>
          <p:nvPr/>
        </p:nvSpPr>
        <p:spPr>
          <a:xfrm>
            <a:off x="8135360" y="3822192"/>
            <a:ext cx="3200400" cy="292608"/>
          </a:xfrm>
          <a:prstGeom prst="rect">
            <a:avLst/>
          </a:prstGeom>
          <a:solidFill>
            <a:srgbClr val="00B8D9"/>
          </a:solidFill>
          <a:ln>
            <a:solidFill>
              <a:srgbClr val="00B8D9">
                <a:alpha val="0"/>
              </a:srgbClr>
            </a:solidFill>
          </a:ln>
        </p:spPr>
        <p:txBody>
          <a:bodyPr wrap="square" lIns="381" tIns="381" rIns="381" bIns="381" rtlCol="0" anchor="ctr">
            <a:normAutofit/>
          </a:bodyPr>
          <a:lstStyle/>
          <a:p>
            <a:pPr marL="0" indent="0" algn="ctr">
              <a:buNone/>
            </a:pPr>
            <a:r>
              <a:rPr lang="en-US" sz="1050" b="1" dirty="0">
                <a:solidFill>
                  <a:srgbClr val="FFFFFF"/>
                </a:solidFill>
              </a:rPr>
              <a:t>End-to-end Cloud Pipeline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FFAB00"/>
          </a:solidFill>
          <a:ln w="12700">
            <a:solidFill>
              <a:srgbClr val="FFAB00">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Why we created this project</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FFAB00"/>
                </a:solidFill>
              </a:rPr>
              <a:t>Purpose before tools</a:t>
            </a:r>
            <a:endParaRPr lang="en-US" sz="1150" dirty="0"/>
          </a:p>
        </p:txBody>
      </p:sp>
      <p:sp>
        <p:nvSpPr>
          <p:cNvPr id="5" name="Text 3"/>
          <p:cNvSpPr/>
          <p:nvPr/>
        </p:nvSpPr>
        <p:spPr>
          <a:xfrm>
            <a:off x="777240" y="1847088"/>
            <a:ext cx="384048" cy="384048"/>
          </a:xfrm>
          <a:prstGeom prst="rect">
            <a:avLst/>
          </a:prstGeom>
          <a:solidFill>
            <a:srgbClr val="FFAB00"/>
          </a:solidFill>
          <a:ln>
            <a:solidFill>
              <a:srgbClr val="FFAB00"/>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289304" y="1828800"/>
            <a:ext cx="585216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Manual CSV movement and report preparation takes more time.</a:t>
            </a:r>
            <a:endParaRPr lang="en-US" sz="1850" dirty="0"/>
          </a:p>
        </p:txBody>
      </p:sp>
      <p:sp>
        <p:nvSpPr>
          <p:cNvPr id="7" name="Text 5"/>
          <p:cNvSpPr/>
          <p:nvPr/>
        </p:nvSpPr>
        <p:spPr>
          <a:xfrm>
            <a:off x="777240" y="2807208"/>
            <a:ext cx="384048" cy="384048"/>
          </a:xfrm>
          <a:prstGeom prst="rect">
            <a:avLst/>
          </a:prstGeom>
          <a:solidFill>
            <a:srgbClr val="FFAB00"/>
          </a:solidFill>
          <a:ln>
            <a:solidFill>
              <a:srgbClr val="FFAB00"/>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289304" y="2788920"/>
            <a:ext cx="6400800" cy="438912"/>
          </a:xfrm>
          <a:prstGeom prst="rect">
            <a:avLst/>
          </a:prstGeom>
          <a:noFill/>
          <a:ln/>
        </p:spPr>
        <p:txBody>
          <a:bodyPr wrap="square" lIns="254" tIns="254" rIns="254" bIns="254" rtlCol="0" anchor="ctr">
            <a:normAutofit fontScale="92500" lnSpcReduction="20000"/>
          </a:bodyPr>
          <a:lstStyle/>
          <a:p>
            <a:pPr marL="0" indent="0">
              <a:buNone/>
            </a:pPr>
            <a:r>
              <a:rPr lang="en-US" sz="1850" b="1" dirty="0">
                <a:solidFill>
                  <a:srgbClr val="1D2939"/>
                </a:solidFill>
              </a:rPr>
              <a:t>This project automates ingestion, processing and inventory reporting.</a:t>
            </a:r>
            <a:endParaRPr lang="en-US" sz="1850" dirty="0"/>
          </a:p>
        </p:txBody>
      </p:sp>
      <p:sp>
        <p:nvSpPr>
          <p:cNvPr id="9" name="Shape 7"/>
          <p:cNvSpPr/>
          <p:nvPr/>
        </p:nvSpPr>
        <p:spPr>
          <a:xfrm>
            <a:off x="7406640" y="1417320"/>
            <a:ext cx="0" cy="4206240"/>
          </a:xfrm>
          <a:prstGeom prst="line">
            <a:avLst/>
          </a:prstGeom>
          <a:noFill/>
          <a:ln w="25400">
            <a:solidFill>
              <a:srgbClr val="FFAB00">
                <a:alpha val="80000"/>
              </a:srgbClr>
            </a:solidFill>
            <a:prstDash val="solid"/>
          </a:ln>
        </p:spPr>
        <p:txBody>
          <a:bodyPr/>
          <a:lstStyle/>
          <a:p>
            <a:endParaRPr lang="en-IN"/>
          </a:p>
        </p:txBody>
      </p:sp>
      <p:sp>
        <p:nvSpPr>
          <p:cNvPr id="10" name="Text 8"/>
          <p:cNvSpPr/>
          <p:nvPr/>
        </p:nvSpPr>
        <p:spPr>
          <a:xfrm>
            <a:off x="7909560" y="1645920"/>
            <a:ext cx="3246120" cy="1005840"/>
          </a:xfrm>
          <a:prstGeom prst="rect">
            <a:avLst/>
          </a:prstGeom>
          <a:solidFill>
            <a:srgbClr val="FFFFFF"/>
          </a:solidFill>
          <a:ln w="15240">
            <a:solidFill>
              <a:srgbClr val="FFAB00">
                <a:alpha val="85000"/>
              </a:srgbClr>
            </a:solidFill>
          </a:ln>
        </p:spPr>
        <p:txBody>
          <a:bodyPr wrap="square" rtlCol="0" anchor="ctr">
            <a:normAutofit/>
          </a:bodyPr>
          <a:lstStyle/>
          <a:p>
            <a:pPr marL="0" indent="0">
              <a:buNone/>
            </a:pPr>
            <a:r>
              <a:rPr lang="en-US" sz="1300" b="1" dirty="0">
                <a:solidFill>
                  <a:srgbClr val="1D2939"/>
                </a:solidFill>
                <a:latin typeface="Aptos" pitchFamily="34" charset="0"/>
                <a:ea typeface="Aptos" pitchFamily="34" charset="-122"/>
                <a:cs typeface="Aptos" pitchFamily="34" charset="-120"/>
              </a:rPr>
              <a:t>Before</a:t>
            </a:r>
            <a:endParaRPr lang="en-US" sz="1300" dirty="0"/>
          </a:p>
          <a:p>
            <a:pPr marL="0" indent="0">
              <a:buNone/>
            </a:pPr>
            <a:r>
              <a:rPr lang="en-US" sz="1300" b="1" dirty="0">
                <a:solidFill>
                  <a:srgbClr val="1D2939"/>
                </a:solidFill>
                <a:latin typeface="Aptos" pitchFamily="34" charset="0"/>
                <a:ea typeface="Aptos" pitchFamily="34" charset="-122"/>
                <a:cs typeface="Aptos" pitchFamily="34" charset="-120"/>
              </a:rPr>
              <a:t>Manual upload, manual checking, slow reporting</a:t>
            </a:r>
            <a:endParaRPr lang="en-US" sz="1300" dirty="0"/>
          </a:p>
        </p:txBody>
      </p:sp>
      <p:sp>
        <p:nvSpPr>
          <p:cNvPr id="11" name="Text 9"/>
          <p:cNvSpPr/>
          <p:nvPr/>
        </p:nvSpPr>
        <p:spPr>
          <a:xfrm>
            <a:off x="7909560" y="3291840"/>
            <a:ext cx="3246120" cy="1005840"/>
          </a:xfrm>
          <a:prstGeom prst="rect">
            <a:avLst/>
          </a:prstGeom>
          <a:solidFill>
            <a:srgbClr val="FFFFFF"/>
          </a:solidFill>
          <a:ln w="15240">
            <a:solidFill>
              <a:srgbClr val="36B37E">
                <a:alpha val="85000"/>
              </a:srgbClr>
            </a:solidFill>
          </a:ln>
        </p:spPr>
        <p:txBody>
          <a:bodyPr wrap="square" rtlCol="0" anchor="ctr">
            <a:normAutofit/>
          </a:bodyPr>
          <a:lstStyle/>
          <a:p>
            <a:pPr marL="0" indent="0">
              <a:buNone/>
            </a:pPr>
            <a:r>
              <a:rPr lang="en-US" sz="1300" b="1" dirty="0">
                <a:solidFill>
                  <a:srgbClr val="1D2939"/>
                </a:solidFill>
                <a:latin typeface="Aptos" pitchFamily="34" charset="0"/>
                <a:ea typeface="Aptos" pitchFamily="34" charset="-122"/>
                <a:cs typeface="Aptos" pitchFamily="34" charset="-120"/>
              </a:rPr>
              <a:t>After</a:t>
            </a:r>
            <a:endParaRPr lang="en-US" sz="1300" dirty="0"/>
          </a:p>
          <a:p>
            <a:pPr marL="0" indent="0">
              <a:buNone/>
            </a:pPr>
            <a:r>
              <a:rPr lang="en-US" sz="1300" b="1" dirty="0">
                <a:solidFill>
                  <a:srgbClr val="1D2939"/>
                </a:solidFill>
                <a:latin typeface="Aptos" pitchFamily="34" charset="0"/>
                <a:ea typeface="Aptos" pitchFamily="34" charset="-122"/>
                <a:cs typeface="Aptos" pitchFamily="34" charset="-120"/>
              </a:rPr>
              <a:t>Automated pipeline with verified outputs</a:t>
            </a:r>
            <a:endParaRPr lang="en-US" sz="1300" dirty="0"/>
          </a:p>
        </p:txBody>
      </p:sp>
      <p:sp>
        <p:nvSpPr>
          <p:cNvPr id="12" name="Text 10"/>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3" name="Text 11"/>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46BFE"/>
          </a:solidFill>
          <a:ln w="12700">
            <a:solidFill>
              <a:srgbClr val="246BFE">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What kind of project is this?</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246BFE"/>
                </a:solidFill>
              </a:rPr>
              <a:t>Cloud data engineering + reporting</a:t>
            </a:r>
            <a:endParaRPr lang="en-US" sz="1150" dirty="0"/>
          </a:p>
        </p:txBody>
      </p:sp>
      <p:sp>
        <p:nvSpPr>
          <p:cNvPr id="5" name="Text 3"/>
          <p:cNvSpPr/>
          <p:nvPr/>
        </p:nvSpPr>
        <p:spPr>
          <a:xfrm>
            <a:off x="731520" y="1709928"/>
            <a:ext cx="384048" cy="384048"/>
          </a:xfrm>
          <a:prstGeom prst="rect">
            <a:avLst/>
          </a:prstGeom>
          <a:solidFill>
            <a:srgbClr val="246BFE"/>
          </a:solidFill>
          <a:ln>
            <a:solidFill>
              <a:srgbClr val="246BFE"/>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243584" y="1691640"/>
            <a:ext cx="557784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It is a cloud-based data engineering pipeline project.</a:t>
            </a:r>
            <a:endParaRPr lang="en-US" sz="1850" dirty="0"/>
          </a:p>
        </p:txBody>
      </p:sp>
      <p:sp>
        <p:nvSpPr>
          <p:cNvPr id="7" name="Text 5"/>
          <p:cNvSpPr/>
          <p:nvPr/>
        </p:nvSpPr>
        <p:spPr>
          <a:xfrm>
            <a:off x="731520" y="2715768"/>
            <a:ext cx="384048" cy="384048"/>
          </a:xfrm>
          <a:prstGeom prst="rect">
            <a:avLst/>
          </a:prstGeom>
          <a:solidFill>
            <a:srgbClr val="246BFE"/>
          </a:solidFill>
          <a:ln>
            <a:solidFill>
              <a:srgbClr val="246BFE"/>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243584" y="2697480"/>
            <a:ext cx="525780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ADF orchestrates the workflow; Databricks runs PySpark transformations.</a:t>
            </a:r>
            <a:endParaRPr lang="en-US" sz="1850" dirty="0"/>
          </a:p>
        </p:txBody>
      </p:sp>
      <p:pic>
        <p:nvPicPr>
          <p:cNvPr id="9" name="Image 0" descr="/mnt/data/docx_extract/word/media/image1.png"/>
          <p:cNvPicPr>
            <a:picLocks noChangeAspect="1"/>
          </p:cNvPicPr>
          <p:nvPr/>
        </p:nvPicPr>
        <p:blipFill>
          <a:blip r:embed="rId3"/>
          <a:stretch>
            <a:fillRect/>
          </a:stretch>
        </p:blipFill>
        <p:spPr>
          <a:xfrm>
            <a:off x="7315200" y="1725823"/>
            <a:ext cx="4069080" cy="1943315"/>
          </a:xfrm>
          <a:prstGeom prst="rect">
            <a:avLst/>
          </a:prstGeom>
        </p:spPr>
      </p:pic>
      <p:sp>
        <p:nvSpPr>
          <p:cNvPr id="10" name="Text 7"/>
          <p:cNvSpPr/>
          <p:nvPr/>
        </p:nvSpPr>
        <p:spPr>
          <a:xfrm>
            <a:off x="7726680" y="4133088"/>
            <a:ext cx="3063240" cy="292608"/>
          </a:xfrm>
          <a:prstGeom prst="rect">
            <a:avLst/>
          </a:prstGeom>
          <a:solidFill>
            <a:srgbClr val="246BFE"/>
          </a:solidFill>
          <a:ln>
            <a:solidFill>
              <a:srgbClr val="246BFE">
                <a:alpha val="0"/>
              </a:srgbClr>
            </a:solidFill>
          </a:ln>
        </p:spPr>
        <p:txBody>
          <a:bodyPr wrap="square" lIns="381" tIns="381" rIns="381" bIns="381" rtlCol="0" anchor="ctr">
            <a:normAutofit/>
          </a:bodyPr>
          <a:lstStyle/>
          <a:p>
            <a:pPr marL="0" indent="0" algn="ctr">
              <a:buNone/>
            </a:pPr>
            <a:r>
              <a:rPr lang="en-US" sz="1050" b="1" dirty="0">
                <a:solidFill>
                  <a:srgbClr val="FFFFFF"/>
                </a:solidFill>
              </a:rPr>
              <a:t>Azure resource setup</a:t>
            </a:r>
            <a:endParaRPr lang="en-US" sz="1050" dirty="0"/>
          </a:p>
        </p:txBody>
      </p:sp>
      <p:sp>
        <p:nvSpPr>
          <p:cNvPr id="11" name="Text 8"/>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2" name="Text 9"/>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6554C0"/>
          </a:solidFill>
          <a:ln w="12700">
            <a:solidFill>
              <a:srgbClr val="6554C0">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Overall project flow</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6554C0"/>
                </a:solidFill>
              </a:rPr>
              <a:t>From raw CSV to reports</a:t>
            </a:r>
            <a:endParaRPr lang="en-US" sz="1150" dirty="0"/>
          </a:p>
        </p:txBody>
      </p:sp>
      <p:sp>
        <p:nvSpPr>
          <p:cNvPr id="5" name="Text 3"/>
          <p:cNvSpPr/>
          <p:nvPr/>
        </p:nvSpPr>
        <p:spPr>
          <a:xfrm>
            <a:off x="731520" y="1527048"/>
            <a:ext cx="384048" cy="384048"/>
          </a:xfrm>
          <a:prstGeom prst="rect">
            <a:avLst/>
          </a:prstGeom>
          <a:solidFill>
            <a:srgbClr val="6554C0"/>
          </a:solidFill>
          <a:ln>
            <a:solidFill>
              <a:srgbClr val="6554C0"/>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243584" y="1508760"/>
            <a:ext cx="512064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Source CSV files land in Blob Storage.</a:t>
            </a:r>
            <a:endParaRPr lang="en-US" sz="1850" dirty="0"/>
          </a:p>
        </p:txBody>
      </p:sp>
      <p:sp>
        <p:nvSpPr>
          <p:cNvPr id="7" name="Text 5"/>
          <p:cNvSpPr/>
          <p:nvPr/>
        </p:nvSpPr>
        <p:spPr>
          <a:xfrm>
            <a:off x="731520" y="2258568"/>
            <a:ext cx="384048" cy="384048"/>
          </a:xfrm>
          <a:prstGeom prst="rect">
            <a:avLst/>
          </a:prstGeom>
          <a:solidFill>
            <a:srgbClr val="6554C0"/>
          </a:solidFill>
          <a:ln>
            <a:solidFill>
              <a:srgbClr val="6554C0"/>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243584" y="2240280"/>
            <a:ext cx="608076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ADF triggers Databricks and outputs are stored in ADLS/Delta.</a:t>
            </a:r>
            <a:endParaRPr lang="en-US" sz="1850" dirty="0"/>
          </a:p>
        </p:txBody>
      </p:sp>
      <p:sp>
        <p:nvSpPr>
          <p:cNvPr id="9" name="Shape 7"/>
          <p:cNvSpPr/>
          <p:nvPr/>
        </p:nvSpPr>
        <p:spPr>
          <a:xfrm>
            <a:off x="2057400" y="4297680"/>
            <a:ext cx="640080" cy="0"/>
          </a:xfrm>
          <a:prstGeom prst="line">
            <a:avLst/>
          </a:prstGeom>
          <a:noFill/>
          <a:ln w="19050">
            <a:solidFill>
              <a:srgbClr val="5E6C84"/>
            </a:solidFill>
            <a:prstDash val="solid"/>
            <a:headEnd type="none"/>
            <a:tailEnd type="triangle"/>
          </a:ln>
        </p:spPr>
        <p:txBody>
          <a:bodyPr/>
          <a:lstStyle/>
          <a:p>
            <a:endParaRPr lang="en-IN"/>
          </a:p>
        </p:txBody>
      </p:sp>
      <p:sp>
        <p:nvSpPr>
          <p:cNvPr id="10" name="Shape 8"/>
          <p:cNvSpPr/>
          <p:nvPr/>
        </p:nvSpPr>
        <p:spPr>
          <a:xfrm>
            <a:off x="4114800" y="4297680"/>
            <a:ext cx="640080" cy="0"/>
          </a:xfrm>
          <a:prstGeom prst="line">
            <a:avLst/>
          </a:prstGeom>
          <a:noFill/>
          <a:ln w="19050">
            <a:solidFill>
              <a:srgbClr val="5E6C84"/>
            </a:solidFill>
            <a:prstDash val="solid"/>
            <a:headEnd type="none"/>
            <a:tailEnd type="triangle"/>
          </a:ln>
        </p:spPr>
        <p:txBody>
          <a:bodyPr/>
          <a:lstStyle/>
          <a:p>
            <a:endParaRPr lang="en-IN"/>
          </a:p>
        </p:txBody>
      </p:sp>
      <p:sp>
        <p:nvSpPr>
          <p:cNvPr id="11" name="Shape 9"/>
          <p:cNvSpPr/>
          <p:nvPr/>
        </p:nvSpPr>
        <p:spPr>
          <a:xfrm>
            <a:off x="6172200" y="4297680"/>
            <a:ext cx="640080" cy="0"/>
          </a:xfrm>
          <a:prstGeom prst="line">
            <a:avLst/>
          </a:prstGeom>
          <a:noFill/>
          <a:ln w="19050">
            <a:solidFill>
              <a:srgbClr val="5E6C84"/>
            </a:solidFill>
            <a:prstDash val="solid"/>
            <a:headEnd type="none"/>
            <a:tailEnd type="triangle"/>
          </a:ln>
        </p:spPr>
        <p:txBody>
          <a:bodyPr/>
          <a:lstStyle/>
          <a:p>
            <a:endParaRPr lang="en-IN"/>
          </a:p>
        </p:txBody>
      </p:sp>
      <p:sp>
        <p:nvSpPr>
          <p:cNvPr id="12" name="Shape 10"/>
          <p:cNvSpPr/>
          <p:nvPr/>
        </p:nvSpPr>
        <p:spPr>
          <a:xfrm>
            <a:off x="8229600" y="4297680"/>
            <a:ext cx="640080" cy="0"/>
          </a:xfrm>
          <a:prstGeom prst="line">
            <a:avLst/>
          </a:prstGeom>
          <a:noFill/>
          <a:ln w="19050">
            <a:solidFill>
              <a:srgbClr val="5E6C84"/>
            </a:solidFill>
            <a:prstDash val="solid"/>
            <a:headEnd type="none"/>
            <a:tailEnd type="triangle"/>
          </a:ln>
        </p:spPr>
        <p:txBody>
          <a:bodyPr/>
          <a:lstStyle/>
          <a:p>
            <a:endParaRPr lang="en-IN"/>
          </a:p>
        </p:txBody>
      </p:sp>
      <p:sp>
        <p:nvSpPr>
          <p:cNvPr id="13" name="Text 11"/>
          <p:cNvSpPr/>
          <p:nvPr/>
        </p:nvSpPr>
        <p:spPr>
          <a:xfrm>
            <a:off x="731520" y="3886200"/>
            <a:ext cx="1325880" cy="822960"/>
          </a:xfrm>
          <a:prstGeom prst="rect">
            <a:avLst/>
          </a:prstGeom>
          <a:solidFill>
            <a:srgbClr val="246BFE"/>
          </a:solidFill>
          <a:ln>
            <a:solidFill>
              <a:srgbClr val="246BFE"/>
            </a:solidFill>
          </a:ln>
        </p:spPr>
        <p:txBody>
          <a:bodyPr wrap="square" lIns="635" tIns="635" rIns="635" bIns="635" rtlCol="0" anchor="ctr">
            <a:normAutofit/>
          </a:bodyPr>
          <a:lstStyle/>
          <a:p>
            <a:pPr marL="0" indent="0" algn="ctr">
              <a:buNone/>
            </a:pPr>
            <a:r>
              <a:rPr lang="en-US" sz="1500" b="1" dirty="0">
                <a:solidFill>
                  <a:srgbClr val="FFFFFF"/>
                </a:solidFill>
              </a:rPr>
              <a:t>Blob</a:t>
            </a:r>
            <a:endParaRPr lang="en-US" sz="1500" dirty="0"/>
          </a:p>
          <a:p>
            <a:pPr marL="0" indent="0" algn="ctr">
              <a:buNone/>
            </a:pPr>
            <a:r>
              <a:rPr lang="en-US" sz="1500" b="1" dirty="0">
                <a:solidFill>
                  <a:srgbClr val="FFFFFF"/>
                </a:solidFill>
              </a:rPr>
              <a:t>Source</a:t>
            </a:r>
            <a:endParaRPr lang="en-US" sz="1500" dirty="0"/>
          </a:p>
        </p:txBody>
      </p:sp>
      <p:sp>
        <p:nvSpPr>
          <p:cNvPr id="14" name="Text 12"/>
          <p:cNvSpPr/>
          <p:nvPr/>
        </p:nvSpPr>
        <p:spPr>
          <a:xfrm>
            <a:off x="2788920" y="3886200"/>
            <a:ext cx="1325880" cy="822960"/>
          </a:xfrm>
          <a:prstGeom prst="rect">
            <a:avLst/>
          </a:prstGeom>
          <a:solidFill>
            <a:srgbClr val="6554C0"/>
          </a:solidFill>
          <a:ln>
            <a:solidFill>
              <a:srgbClr val="6554C0"/>
            </a:solidFill>
          </a:ln>
        </p:spPr>
        <p:txBody>
          <a:bodyPr wrap="square" lIns="635" tIns="635" rIns="635" bIns="635" rtlCol="0" anchor="ctr">
            <a:normAutofit/>
          </a:bodyPr>
          <a:lstStyle/>
          <a:p>
            <a:pPr marL="0" indent="0" algn="ctr">
              <a:buNone/>
            </a:pPr>
            <a:r>
              <a:rPr lang="en-US" sz="1500" b="1" dirty="0">
                <a:solidFill>
                  <a:srgbClr val="FFFFFF"/>
                </a:solidFill>
              </a:rPr>
              <a:t>ADF</a:t>
            </a:r>
            <a:endParaRPr lang="en-US" sz="1500" dirty="0"/>
          </a:p>
          <a:p>
            <a:pPr marL="0" indent="0" algn="ctr">
              <a:buNone/>
            </a:pPr>
            <a:r>
              <a:rPr lang="en-US" sz="1500" b="1" dirty="0">
                <a:solidFill>
                  <a:srgbClr val="FFFFFF"/>
                </a:solidFill>
              </a:rPr>
              <a:t>Pipeline</a:t>
            </a:r>
            <a:endParaRPr lang="en-US" sz="1500" dirty="0"/>
          </a:p>
        </p:txBody>
      </p:sp>
      <p:sp>
        <p:nvSpPr>
          <p:cNvPr id="15" name="Text 13"/>
          <p:cNvSpPr/>
          <p:nvPr/>
        </p:nvSpPr>
        <p:spPr>
          <a:xfrm>
            <a:off x="4846320" y="3886200"/>
            <a:ext cx="1325880" cy="822960"/>
          </a:xfrm>
          <a:prstGeom prst="rect">
            <a:avLst/>
          </a:prstGeom>
          <a:solidFill>
            <a:srgbClr val="E11D48"/>
          </a:solidFill>
          <a:ln>
            <a:solidFill>
              <a:srgbClr val="E11D48"/>
            </a:solidFill>
          </a:ln>
        </p:spPr>
        <p:txBody>
          <a:bodyPr wrap="square" lIns="635" tIns="635" rIns="635" bIns="635" rtlCol="0" anchor="ctr">
            <a:normAutofit/>
          </a:bodyPr>
          <a:lstStyle/>
          <a:p>
            <a:pPr marL="0" indent="0" algn="ctr">
              <a:buNone/>
            </a:pPr>
            <a:r>
              <a:rPr lang="en-US" sz="1500" b="1" dirty="0">
                <a:solidFill>
                  <a:srgbClr val="FFFFFF"/>
                </a:solidFill>
              </a:rPr>
              <a:t>Databricks</a:t>
            </a:r>
            <a:endParaRPr lang="en-US" sz="1500" dirty="0"/>
          </a:p>
          <a:p>
            <a:pPr marL="0" indent="0" algn="ctr">
              <a:buNone/>
            </a:pPr>
            <a:r>
              <a:rPr lang="en-US" sz="1500" b="1" dirty="0">
                <a:solidFill>
                  <a:srgbClr val="FFFFFF"/>
                </a:solidFill>
              </a:rPr>
              <a:t>PySpark</a:t>
            </a:r>
            <a:endParaRPr lang="en-US" sz="1500" dirty="0"/>
          </a:p>
        </p:txBody>
      </p:sp>
      <p:sp>
        <p:nvSpPr>
          <p:cNvPr id="16" name="Text 14"/>
          <p:cNvSpPr/>
          <p:nvPr/>
        </p:nvSpPr>
        <p:spPr>
          <a:xfrm>
            <a:off x="6903720" y="3886200"/>
            <a:ext cx="1325880" cy="822960"/>
          </a:xfrm>
          <a:prstGeom prst="rect">
            <a:avLst/>
          </a:prstGeom>
          <a:solidFill>
            <a:srgbClr val="36B37E"/>
          </a:solidFill>
          <a:ln>
            <a:solidFill>
              <a:srgbClr val="36B37E"/>
            </a:solidFill>
          </a:ln>
        </p:spPr>
        <p:txBody>
          <a:bodyPr wrap="square" lIns="635" tIns="635" rIns="635" bIns="635" rtlCol="0" anchor="ctr">
            <a:normAutofit/>
          </a:bodyPr>
          <a:lstStyle/>
          <a:p>
            <a:pPr marL="0" indent="0" algn="ctr">
              <a:buNone/>
            </a:pPr>
            <a:r>
              <a:rPr lang="en-US" sz="1500" b="1" dirty="0">
                <a:solidFill>
                  <a:srgbClr val="FFFFFF"/>
                </a:solidFill>
              </a:rPr>
              <a:t>ADLS +</a:t>
            </a:r>
            <a:endParaRPr lang="en-US" sz="1500" dirty="0"/>
          </a:p>
          <a:p>
            <a:pPr marL="0" indent="0" algn="ctr">
              <a:buNone/>
            </a:pPr>
            <a:r>
              <a:rPr lang="en-US" sz="1500" b="1" dirty="0">
                <a:solidFill>
                  <a:srgbClr val="FFFFFF"/>
                </a:solidFill>
              </a:rPr>
              <a:t>Delta</a:t>
            </a:r>
            <a:endParaRPr lang="en-US" sz="1500" dirty="0"/>
          </a:p>
        </p:txBody>
      </p:sp>
      <p:sp>
        <p:nvSpPr>
          <p:cNvPr id="17" name="Text 15"/>
          <p:cNvSpPr/>
          <p:nvPr/>
        </p:nvSpPr>
        <p:spPr>
          <a:xfrm>
            <a:off x="8961120" y="3886200"/>
            <a:ext cx="1325880" cy="822960"/>
          </a:xfrm>
          <a:prstGeom prst="rect">
            <a:avLst/>
          </a:prstGeom>
          <a:solidFill>
            <a:srgbClr val="FFAB00"/>
          </a:solidFill>
          <a:ln>
            <a:solidFill>
              <a:srgbClr val="FFAB00"/>
            </a:solidFill>
          </a:ln>
        </p:spPr>
        <p:txBody>
          <a:bodyPr wrap="square" lIns="635" tIns="635" rIns="635" bIns="635" rtlCol="0" anchor="ctr">
            <a:normAutofit/>
          </a:bodyPr>
          <a:lstStyle/>
          <a:p>
            <a:pPr marL="0" indent="0" algn="ctr">
              <a:buNone/>
            </a:pPr>
            <a:r>
              <a:rPr lang="en-US" sz="1500" b="1" dirty="0">
                <a:solidFill>
                  <a:srgbClr val="FFFFFF"/>
                </a:solidFill>
              </a:rPr>
              <a:t>Reports</a:t>
            </a:r>
            <a:endParaRPr lang="en-US" sz="1500" dirty="0"/>
          </a:p>
          <a:p>
            <a:pPr marL="0" indent="0" algn="ctr">
              <a:buNone/>
            </a:pPr>
            <a:r>
              <a:rPr lang="en-US" sz="1500" b="1" dirty="0">
                <a:solidFill>
                  <a:srgbClr val="FFFFFF"/>
                </a:solidFill>
              </a:rPr>
              <a:t>CSV</a:t>
            </a:r>
            <a:endParaRPr lang="en-US" sz="1500" dirty="0"/>
          </a:p>
        </p:txBody>
      </p:sp>
      <p:sp>
        <p:nvSpPr>
          <p:cNvPr id="18" name="Text 16"/>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9" name="Text 17"/>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36B37E"/>
          </a:solidFill>
          <a:ln w="12700">
            <a:solidFill>
              <a:srgbClr val="36B37E">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Azure services used</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36B37E"/>
                </a:solidFill>
              </a:rPr>
              <a:t>Each service has a clear role</a:t>
            </a:r>
            <a:endParaRPr lang="en-US" sz="1150" dirty="0"/>
          </a:p>
        </p:txBody>
      </p:sp>
      <p:sp>
        <p:nvSpPr>
          <p:cNvPr id="5" name="Text 3"/>
          <p:cNvSpPr/>
          <p:nvPr/>
        </p:nvSpPr>
        <p:spPr>
          <a:xfrm>
            <a:off x="731520" y="1527048"/>
            <a:ext cx="384048" cy="384048"/>
          </a:xfrm>
          <a:prstGeom prst="rect">
            <a:avLst/>
          </a:prstGeom>
          <a:solidFill>
            <a:srgbClr val="36B37E"/>
          </a:solidFill>
          <a:ln>
            <a:solidFill>
              <a:srgbClr val="36B37E"/>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243584" y="1508760"/>
            <a:ext cx="621792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Blob Storage and ADLS store source and processed data.</a:t>
            </a:r>
            <a:endParaRPr lang="en-US" sz="1850" dirty="0"/>
          </a:p>
        </p:txBody>
      </p:sp>
      <p:sp>
        <p:nvSpPr>
          <p:cNvPr id="7" name="Text 5"/>
          <p:cNvSpPr/>
          <p:nvPr/>
        </p:nvSpPr>
        <p:spPr>
          <a:xfrm>
            <a:off x="731520" y="2258568"/>
            <a:ext cx="384048" cy="384048"/>
          </a:xfrm>
          <a:prstGeom prst="rect">
            <a:avLst/>
          </a:prstGeom>
          <a:solidFill>
            <a:srgbClr val="36B37E"/>
          </a:solidFill>
          <a:ln>
            <a:solidFill>
              <a:srgbClr val="36B37E"/>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243584" y="2240280"/>
            <a:ext cx="649224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ADF handles orchestration; Databricks handles PySpark processing.</a:t>
            </a:r>
            <a:endParaRPr lang="en-US" sz="1850" dirty="0"/>
          </a:p>
        </p:txBody>
      </p:sp>
      <p:sp>
        <p:nvSpPr>
          <p:cNvPr id="9" name="Text 7"/>
          <p:cNvSpPr/>
          <p:nvPr/>
        </p:nvSpPr>
        <p:spPr>
          <a:xfrm>
            <a:off x="1005840" y="3886200"/>
            <a:ext cx="3017520" cy="1005840"/>
          </a:xfrm>
          <a:prstGeom prst="rect">
            <a:avLst/>
          </a:prstGeom>
          <a:solidFill>
            <a:srgbClr val="FFFFFF"/>
          </a:solidFill>
          <a:ln w="15240">
            <a:solidFill>
              <a:srgbClr val="246BFE">
                <a:alpha val="85000"/>
              </a:srgbClr>
            </a:solidFill>
          </a:ln>
        </p:spPr>
        <p:txBody>
          <a:bodyPr wrap="square" rtlCol="0" anchor="ctr">
            <a:normAutofit/>
          </a:bodyPr>
          <a:lstStyle/>
          <a:p>
            <a:pPr marL="0" indent="0">
              <a:buNone/>
            </a:pPr>
            <a:r>
              <a:rPr lang="en-US" sz="1300" b="1" dirty="0">
                <a:solidFill>
                  <a:srgbClr val="1D2939"/>
                </a:solidFill>
                <a:latin typeface="Aptos" pitchFamily="34" charset="0"/>
                <a:ea typeface="Aptos" pitchFamily="34" charset="-122"/>
                <a:cs typeface="Aptos" pitchFamily="34" charset="-120"/>
              </a:rPr>
              <a:t>Storage</a:t>
            </a:r>
            <a:endParaRPr lang="en-US" sz="1300" dirty="0"/>
          </a:p>
          <a:p>
            <a:pPr marL="0" indent="0">
              <a:buNone/>
            </a:pPr>
            <a:r>
              <a:rPr lang="en-US" sz="1300" b="1" dirty="0">
                <a:solidFill>
                  <a:srgbClr val="1D2939"/>
                </a:solidFill>
                <a:latin typeface="Aptos" pitchFamily="34" charset="0"/>
                <a:ea typeface="Aptos" pitchFamily="34" charset="-122"/>
                <a:cs typeface="Aptos" pitchFamily="34" charset="-120"/>
              </a:rPr>
              <a:t>Raw input + processed output containers</a:t>
            </a:r>
            <a:endParaRPr lang="en-US" sz="1300" dirty="0"/>
          </a:p>
        </p:txBody>
      </p:sp>
      <p:sp>
        <p:nvSpPr>
          <p:cNvPr id="10" name="Text 8"/>
          <p:cNvSpPr/>
          <p:nvPr/>
        </p:nvSpPr>
        <p:spPr>
          <a:xfrm>
            <a:off x="4572000" y="3886200"/>
            <a:ext cx="3017520" cy="1005840"/>
          </a:xfrm>
          <a:prstGeom prst="rect">
            <a:avLst/>
          </a:prstGeom>
          <a:solidFill>
            <a:srgbClr val="FFFFFF"/>
          </a:solidFill>
          <a:ln w="15240">
            <a:solidFill>
              <a:srgbClr val="6554C0">
                <a:alpha val="85000"/>
              </a:srgbClr>
            </a:solidFill>
          </a:ln>
        </p:spPr>
        <p:txBody>
          <a:bodyPr wrap="square" rtlCol="0" anchor="ctr">
            <a:normAutofit/>
          </a:bodyPr>
          <a:lstStyle/>
          <a:p>
            <a:pPr marL="0" indent="0">
              <a:buNone/>
            </a:pPr>
            <a:r>
              <a:rPr lang="en-US" sz="1300" b="1" dirty="0">
                <a:solidFill>
                  <a:srgbClr val="1D2939"/>
                </a:solidFill>
                <a:latin typeface="Aptos" pitchFamily="34" charset="0"/>
                <a:ea typeface="Aptos" pitchFamily="34" charset="-122"/>
                <a:cs typeface="Aptos" pitchFamily="34" charset="-120"/>
              </a:rPr>
              <a:t>ADF</a:t>
            </a:r>
            <a:endParaRPr lang="en-US" sz="1300" dirty="0"/>
          </a:p>
          <a:p>
            <a:pPr marL="0" indent="0">
              <a:buNone/>
            </a:pPr>
            <a:r>
              <a:rPr lang="en-US" sz="1300" b="1" dirty="0">
                <a:solidFill>
                  <a:srgbClr val="1D2939"/>
                </a:solidFill>
                <a:latin typeface="Aptos" pitchFamily="34" charset="0"/>
                <a:ea typeface="Aptos" pitchFamily="34" charset="-122"/>
                <a:cs typeface="Aptos" pitchFamily="34" charset="-120"/>
              </a:rPr>
              <a:t>Trigger, Copy Data, Notebook activity</a:t>
            </a:r>
            <a:endParaRPr lang="en-US" sz="1300" dirty="0"/>
          </a:p>
        </p:txBody>
      </p:sp>
      <p:sp>
        <p:nvSpPr>
          <p:cNvPr id="11" name="Text 9"/>
          <p:cNvSpPr/>
          <p:nvPr/>
        </p:nvSpPr>
        <p:spPr>
          <a:xfrm>
            <a:off x="8138160" y="3886200"/>
            <a:ext cx="3017520" cy="1005840"/>
          </a:xfrm>
          <a:prstGeom prst="rect">
            <a:avLst/>
          </a:prstGeom>
          <a:solidFill>
            <a:srgbClr val="FFFFFF"/>
          </a:solidFill>
          <a:ln w="15240">
            <a:solidFill>
              <a:srgbClr val="E11D48">
                <a:alpha val="85000"/>
              </a:srgbClr>
            </a:solidFill>
          </a:ln>
        </p:spPr>
        <p:txBody>
          <a:bodyPr wrap="square" rtlCol="0" anchor="ctr">
            <a:normAutofit/>
          </a:bodyPr>
          <a:lstStyle/>
          <a:p>
            <a:pPr marL="0" indent="0">
              <a:buNone/>
            </a:pPr>
            <a:r>
              <a:rPr lang="en-US" sz="1300" b="1" dirty="0">
                <a:solidFill>
                  <a:srgbClr val="1D2939"/>
                </a:solidFill>
                <a:latin typeface="Aptos" pitchFamily="34" charset="0"/>
                <a:ea typeface="Aptos" pitchFamily="34" charset="-122"/>
                <a:cs typeface="Aptos" pitchFamily="34" charset="-120"/>
              </a:rPr>
              <a:t>Databricks</a:t>
            </a:r>
            <a:endParaRPr lang="en-US" sz="1300" dirty="0"/>
          </a:p>
          <a:p>
            <a:pPr marL="0" indent="0">
              <a:buNone/>
            </a:pPr>
            <a:r>
              <a:rPr lang="en-US" sz="1300" b="1" dirty="0">
                <a:solidFill>
                  <a:srgbClr val="1D2939"/>
                </a:solidFill>
                <a:latin typeface="Aptos" pitchFamily="34" charset="0"/>
                <a:ea typeface="Aptos" pitchFamily="34" charset="-122"/>
                <a:cs typeface="Aptos" pitchFamily="34" charset="-120"/>
              </a:rPr>
              <a:t>Cluster + PySpark notebook</a:t>
            </a:r>
            <a:endParaRPr lang="en-US" sz="1300" dirty="0"/>
          </a:p>
        </p:txBody>
      </p:sp>
      <p:sp>
        <p:nvSpPr>
          <p:cNvPr id="12" name="Text 10"/>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3" name="Text 11"/>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00B8D9"/>
          </a:solidFill>
          <a:ln w="12700">
            <a:solidFill>
              <a:srgbClr val="00B8D9">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Input data and data model</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00B8D9"/>
                </a:solidFill>
              </a:rPr>
              <a:t>Source files converted into analytics tables</a:t>
            </a:r>
            <a:endParaRPr lang="en-US" sz="1150" dirty="0"/>
          </a:p>
        </p:txBody>
      </p:sp>
      <p:sp>
        <p:nvSpPr>
          <p:cNvPr id="5" name="Text 3"/>
          <p:cNvSpPr/>
          <p:nvPr/>
        </p:nvSpPr>
        <p:spPr>
          <a:xfrm>
            <a:off x="685800" y="1435608"/>
            <a:ext cx="384048" cy="384048"/>
          </a:xfrm>
          <a:prstGeom prst="rect">
            <a:avLst/>
          </a:prstGeom>
          <a:solidFill>
            <a:srgbClr val="00B8D9"/>
          </a:solidFill>
          <a:ln>
            <a:solidFill>
              <a:srgbClr val="00B8D9"/>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197864" y="1417320"/>
            <a:ext cx="544068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Input files: Inventory_Management_Src1.csv and DIM_Date_Table.csv.</a:t>
            </a:r>
            <a:endParaRPr lang="en-US" sz="1850" dirty="0"/>
          </a:p>
        </p:txBody>
      </p:sp>
      <p:sp>
        <p:nvSpPr>
          <p:cNvPr id="7" name="Text 5"/>
          <p:cNvSpPr/>
          <p:nvPr/>
        </p:nvSpPr>
        <p:spPr>
          <a:xfrm>
            <a:off x="685800" y="2167128"/>
            <a:ext cx="384048" cy="384048"/>
          </a:xfrm>
          <a:prstGeom prst="rect">
            <a:avLst/>
          </a:prstGeom>
          <a:solidFill>
            <a:srgbClr val="00B8D9"/>
          </a:solidFill>
          <a:ln>
            <a:solidFill>
              <a:srgbClr val="00B8D9"/>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197864" y="2148840"/>
            <a:ext cx="544068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Created dimensions, fact table and reporting datasets.</a:t>
            </a:r>
            <a:endParaRPr lang="en-US" sz="1850" dirty="0"/>
          </a:p>
        </p:txBody>
      </p:sp>
      <p:pic>
        <p:nvPicPr>
          <p:cNvPr id="9" name="Image 0" descr="/mnt/data/docx_extract/word/media/image12.png"/>
          <p:cNvPicPr>
            <a:picLocks noChangeAspect="1"/>
          </p:cNvPicPr>
          <p:nvPr/>
        </p:nvPicPr>
        <p:blipFill>
          <a:blip r:embed="rId3"/>
          <a:stretch>
            <a:fillRect/>
          </a:stretch>
        </p:blipFill>
        <p:spPr>
          <a:xfrm>
            <a:off x="6995160" y="1420919"/>
            <a:ext cx="4297680" cy="2278801"/>
          </a:xfrm>
          <a:prstGeom prst="rect">
            <a:avLst/>
          </a:prstGeom>
        </p:spPr>
      </p:pic>
      <p:sp>
        <p:nvSpPr>
          <p:cNvPr id="10" name="Text 7"/>
          <p:cNvSpPr/>
          <p:nvPr/>
        </p:nvSpPr>
        <p:spPr>
          <a:xfrm>
            <a:off x="1005840" y="4251960"/>
            <a:ext cx="2743200" cy="347472"/>
          </a:xfrm>
          <a:prstGeom prst="rect">
            <a:avLst/>
          </a:prstGeom>
          <a:solidFill>
            <a:srgbClr val="FFFFFF"/>
          </a:solidFill>
          <a:ln>
            <a:solidFill>
              <a:srgbClr val="00B8D9">
                <a:alpha val="70000"/>
              </a:srgbClr>
            </a:solidFill>
          </a:ln>
        </p:spPr>
        <p:txBody>
          <a:bodyPr wrap="square" lIns="254" tIns="254" rIns="254" bIns="254" rtlCol="0" anchor="ctr">
            <a:normAutofit/>
          </a:bodyPr>
          <a:lstStyle/>
          <a:p>
            <a:pPr marL="0" indent="0" algn="ctr">
              <a:buNone/>
            </a:pPr>
            <a:r>
              <a:rPr lang="en-US" sz="1280" b="1" dirty="0">
                <a:solidFill>
                  <a:srgbClr val="1D2939"/>
                </a:solidFill>
              </a:rPr>
              <a:t>DIM_Customer</a:t>
            </a:r>
            <a:endParaRPr lang="en-US" sz="1280" dirty="0"/>
          </a:p>
        </p:txBody>
      </p:sp>
      <p:sp>
        <p:nvSpPr>
          <p:cNvPr id="11" name="Text 8"/>
          <p:cNvSpPr/>
          <p:nvPr/>
        </p:nvSpPr>
        <p:spPr>
          <a:xfrm>
            <a:off x="4434840" y="4251960"/>
            <a:ext cx="2743200" cy="347472"/>
          </a:xfrm>
          <a:prstGeom prst="rect">
            <a:avLst/>
          </a:prstGeom>
          <a:solidFill>
            <a:srgbClr val="FFFFFF"/>
          </a:solidFill>
          <a:ln>
            <a:solidFill>
              <a:srgbClr val="00B8D9">
                <a:alpha val="70000"/>
              </a:srgbClr>
            </a:solidFill>
          </a:ln>
        </p:spPr>
        <p:txBody>
          <a:bodyPr wrap="square" lIns="254" tIns="254" rIns="254" bIns="254" rtlCol="0" anchor="ctr">
            <a:normAutofit/>
          </a:bodyPr>
          <a:lstStyle/>
          <a:p>
            <a:pPr marL="0" indent="0" algn="ctr">
              <a:buNone/>
            </a:pPr>
            <a:r>
              <a:rPr lang="en-US" sz="1280" b="1" dirty="0">
                <a:solidFill>
                  <a:srgbClr val="1D2939"/>
                </a:solidFill>
              </a:rPr>
              <a:t>DIM_Product</a:t>
            </a:r>
            <a:endParaRPr lang="en-US" sz="1280" dirty="0"/>
          </a:p>
        </p:txBody>
      </p:sp>
      <p:sp>
        <p:nvSpPr>
          <p:cNvPr id="12" name="Text 9"/>
          <p:cNvSpPr/>
          <p:nvPr/>
        </p:nvSpPr>
        <p:spPr>
          <a:xfrm>
            <a:off x="7863840" y="4251960"/>
            <a:ext cx="2743200" cy="347472"/>
          </a:xfrm>
          <a:prstGeom prst="rect">
            <a:avLst/>
          </a:prstGeom>
          <a:solidFill>
            <a:srgbClr val="FFFFFF"/>
          </a:solidFill>
          <a:ln>
            <a:solidFill>
              <a:srgbClr val="00B8D9">
                <a:alpha val="70000"/>
              </a:srgbClr>
            </a:solidFill>
          </a:ln>
        </p:spPr>
        <p:txBody>
          <a:bodyPr wrap="square" lIns="254" tIns="254" rIns="254" bIns="254" rtlCol="0" anchor="ctr">
            <a:normAutofit/>
          </a:bodyPr>
          <a:lstStyle/>
          <a:p>
            <a:pPr marL="0" indent="0" algn="ctr">
              <a:buNone/>
            </a:pPr>
            <a:r>
              <a:rPr lang="en-US" sz="1280" b="1" dirty="0">
                <a:solidFill>
                  <a:srgbClr val="1D2939"/>
                </a:solidFill>
              </a:rPr>
              <a:t>DIM_Seller</a:t>
            </a:r>
            <a:endParaRPr lang="en-US" sz="1280" dirty="0"/>
          </a:p>
        </p:txBody>
      </p:sp>
      <p:sp>
        <p:nvSpPr>
          <p:cNvPr id="13" name="Text 10"/>
          <p:cNvSpPr/>
          <p:nvPr/>
        </p:nvSpPr>
        <p:spPr>
          <a:xfrm>
            <a:off x="1005840" y="4846320"/>
            <a:ext cx="2743200" cy="347472"/>
          </a:xfrm>
          <a:prstGeom prst="rect">
            <a:avLst/>
          </a:prstGeom>
          <a:solidFill>
            <a:srgbClr val="FFFFFF"/>
          </a:solidFill>
          <a:ln>
            <a:solidFill>
              <a:srgbClr val="00B8D9">
                <a:alpha val="70000"/>
              </a:srgbClr>
            </a:solidFill>
          </a:ln>
        </p:spPr>
        <p:txBody>
          <a:bodyPr wrap="square" lIns="254" tIns="254" rIns="254" bIns="254" rtlCol="0" anchor="ctr">
            <a:normAutofit/>
          </a:bodyPr>
          <a:lstStyle/>
          <a:p>
            <a:pPr marL="0" indent="0" algn="ctr">
              <a:buNone/>
            </a:pPr>
            <a:r>
              <a:rPr lang="en-US" sz="1280" b="1" dirty="0">
                <a:solidFill>
                  <a:srgbClr val="1D2939"/>
                </a:solidFill>
              </a:rPr>
              <a:t>DIM_Time</a:t>
            </a:r>
            <a:endParaRPr lang="en-US" sz="1280" dirty="0"/>
          </a:p>
        </p:txBody>
      </p:sp>
      <p:sp>
        <p:nvSpPr>
          <p:cNvPr id="14" name="Text 11"/>
          <p:cNvSpPr/>
          <p:nvPr/>
        </p:nvSpPr>
        <p:spPr>
          <a:xfrm>
            <a:off x="4434840" y="4846320"/>
            <a:ext cx="2743200" cy="347472"/>
          </a:xfrm>
          <a:prstGeom prst="rect">
            <a:avLst/>
          </a:prstGeom>
          <a:solidFill>
            <a:srgbClr val="FFFFFF"/>
          </a:solidFill>
          <a:ln>
            <a:solidFill>
              <a:srgbClr val="00B8D9">
                <a:alpha val="70000"/>
              </a:srgbClr>
            </a:solidFill>
          </a:ln>
        </p:spPr>
        <p:txBody>
          <a:bodyPr wrap="square" lIns="254" tIns="254" rIns="254" bIns="254" rtlCol="0" anchor="ctr">
            <a:normAutofit/>
          </a:bodyPr>
          <a:lstStyle/>
          <a:p>
            <a:pPr marL="0" indent="0" algn="ctr">
              <a:buNone/>
            </a:pPr>
            <a:r>
              <a:rPr lang="en-US" sz="1280" b="1" dirty="0">
                <a:solidFill>
                  <a:srgbClr val="1D2939"/>
                </a:solidFill>
              </a:rPr>
              <a:t>DIM_Transaction</a:t>
            </a:r>
            <a:endParaRPr lang="en-US" sz="1280" dirty="0"/>
          </a:p>
        </p:txBody>
      </p:sp>
      <p:sp>
        <p:nvSpPr>
          <p:cNvPr id="15" name="Text 12"/>
          <p:cNvSpPr/>
          <p:nvPr/>
        </p:nvSpPr>
        <p:spPr>
          <a:xfrm>
            <a:off x="7863840" y="4846320"/>
            <a:ext cx="2743200" cy="347472"/>
          </a:xfrm>
          <a:prstGeom prst="rect">
            <a:avLst/>
          </a:prstGeom>
          <a:solidFill>
            <a:srgbClr val="FFFFFF"/>
          </a:solidFill>
          <a:ln>
            <a:solidFill>
              <a:srgbClr val="00B8D9">
                <a:alpha val="70000"/>
              </a:srgbClr>
            </a:solidFill>
          </a:ln>
        </p:spPr>
        <p:txBody>
          <a:bodyPr wrap="square" lIns="254" tIns="254" rIns="254" bIns="254" rtlCol="0" anchor="ctr">
            <a:normAutofit/>
          </a:bodyPr>
          <a:lstStyle/>
          <a:p>
            <a:pPr marL="0" indent="0" algn="ctr">
              <a:buNone/>
            </a:pPr>
            <a:r>
              <a:rPr lang="en-US" sz="1280" b="1" dirty="0">
                <a:solidFill>
                  <a:srgbClr val="1D2939"/>
                </a:solidFill>
              </a:rPr>
              <a:t>FACT_Inventory</a:t>
            </a:r>
            <a:endParaRPr lang="en-US" sz="1280" dirty="0"/>
          </a:p>
        </p:txBody>
      </p:sp>
      <p:sp>
        <p:nvSpPr>
          <p:cNvPr id="16" name="Text 13"/>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7" name="Text 14"/>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66928"/>
          </a:xfrm>
          <a:prstGeom prst="rect">
            <a:avLst/>
          </a:prstGeom>
          <a:solidFill>
            <a:srgbClr val="0A2240"/>
          </a:solidFill>
          <a:ln>
            <a:solidFill>
              <a:srgbClr val="0A22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3152"/>
            <a:ext cx="12192000" cy="320040"/>
          </a:xfrm>
          <a:prstGeom prst="rect">
            <a:avLst/>
          </a:prstGeom>
          <a:noFill/>
        </p:spPr>
        <p:txBody>
          <a:bodyPr wrap="none">
            <a:spAutoFit/>
          </a:bodyPr>
          <a:lstStyle/>
          <a:p>
            <a:pPr algn="ctr"/>
            <a:r>
              <a:rPr sz="2300" b="1">
                <a:solidFill>
                  <a:srgbClr val="FFFFFF"/>
                </a:solidFill>
              </a:rPr>
              <a:t>Star Schema Model</a:t>
            </a:r>
          </a:p>
        </p:txBody>
      </p:sp>
      <p:sp>
        <p:nvSpPr>
          <p:cNvPr id="4" name="TextBox 3"/>
          <p:cNvSpPr txBox="1"/>
          <p:nvPr/>
        </p:nvSpPr>
        <p:spPr>
          <a:xfrm>
            <a:off x="0" y="329184"/>
            <a:ext cx="12192000" cy="164592"/>
          </a:xfrm>
          <a:prstGeom prst="rect">
            <a:avLst/>
          </a:prstGeom>
          <a:noFill/>
        </p:spPr>
        <p:txBody>
          <a:bodyPr wrap="none">
            <a:spAutoFit/>
          </a:bodyPr>
          <a:lstStyle/>
          <a:p>
            <a:pPr algn="ctr"/>
            <a:r>
              <a:rPr sz="1000">
                <a:solidFill>
                  <a:srgbClr val="DCE6F0"/>
                </a:solidFill>
              </a:rPr>
              <a:t>Dimensional view of the inventory reporting system</a:t>
            </a:r>
          </a:p>
        </p:txBody>
      </p:sp>
      <p:pic>
        <p:nvPicPr>
          <p:cNvPr id="9" name="Picture 8">
            <a:extLst>
              <a:ext uri="{FF2B5EF4-FFF2-40B4-BE49-F238E27FC236}">
                <a16:creationId xmlns:a16="http://schemas.microsoft.com/office/drawing/2014/main" id="{11DA1269-8762-537B-599F-34819BA4A1A3}"/>
              </a:ext>
            </a:extLst>
          </p:cNvPr>
          <p:cNvPicPr>
            <a:picLocks noChangeAspect="1"/>
          </p:cNvPicPr>
          <p:nvPr/>
        </p:nvPicPr>
        <p:blipFill>
          <a:blip r:embed="rId2"/>
          <a:stretch>
            <a:fillRect/>
          </a:stretch>
        </p:blipFill>
        <p:spPr>
          <a:xfrm>
            <a:off x="955848" y="640080"/>
            <a:ext cx="10280303" cy="61447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46BFE"/>
          </a:solidFill>
          <a:ln w="12700">
            <a:solidFill>
              <a:srgbClr val="246BFE">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ADF pipeline design</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246BFE"/>
                </a:solidFill>
              </a:rPr>
              <a:t>Copy first, process next</a:t>
            </a:r>
            <a:endParaRPr lang="en-US" sz="1150" dirty="0"/>
          </a:p>
        </p:txBody>
      </p:sp>
      <p:sp>
        <p:nvSpPr>
          <p:cNvPr id="5" name="Text 3"/>
          <p:cNvSpPr/>
          <p:nvPr/>
        </p:nvSpPr>
        <p:spPr>
          <a:xfrm>
            <a:off x="685800" y="1435608"/>
            <a:ext cx="384048" cy="384048"/>
          </a:xfrm>
          <a:prstGeom prst="rect">
            <a:avLst/>
          </a:prstGeom>
          <a:solidFill>
            <a:srgbClr val="246BFE"/>
          </a:solidFill>
          <a:ln>
            <a:solidFill>
              <a:srgbClr val="246BFE"/>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197864" y="1417320"/>
            <a:ext cx="603504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Copy Data moves CSV files from Blob Storage to ADLS.</a:t>
            </a:r>
            <a:endParaRPr lang="en-US" sz="1850" dirty="0"/>
          </a:p>
        </p:txBody>
      </p:sp>
      <p:sp>
        <p:nvSpPr>
          <p:cNvPr id="7" name="Text 5"/>
          <p:cNvSpPr/>
          <p:nvPr/>
        </p:nvSpPr>
        <p:spPr>
          <a:xfrm>
            <a:off x="685800" y="2121408"/>
            <a:ext cx="384048" cy="384048"/>
          </a:xfrm>
          <a:prstGeom prst="rect">
            <a:avLst/>
          </a:prstGeom>
          <a:solidFill>
            <a:srgbClr val="246BFE"/>
          </a:solidFill>
          <a:ln>
            <a:solidFill>
              <a:srgbClr val="246BFE"/>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197864" y="2103120"/>
            <a:ext cx="621792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Notebook activity runs only after the copy activity succeeds.</a:t>
            </a:r>
            <a:endParaRPr lang="en-US" sz="1850" dirty="0"/>
          </a:p>
        </p:txBody>
      </p:sp>
      <p:pic>
        <p:nvPicPr>
          <p:cNvPr id="9" name="Image 0" descr="/mnt/data/docx_extract/word/media/image41.png"/>
          <p:cNvPicPr>
            <a:picLocks noChangeAspect="1"/>
          </p:cNvPicPr>
          <p:nvPr/>
        </p:nvPicPr>
        <p:blipFill>
          <a:blip r:embed="rId3"/>
          <a:stretch>
            <a:fillRect/>
          </a:stretch>
        </p:blipFill>
        <p:spPr>
          <a:xfrm>
            <a:off x="3620736" y="2971800"/>
            <a:ext cx="4828607" cy="2560320"/>
          </a:xfrm>
          <a:prstGeom prst="rect">
            <a:avLst/>
          </a:prstGeom>
        </p:spPr>
      </p:pic>
      <p:sp>
        <p:nvSpPr>
          <p:cNvPr id="10" name="Text 7"/>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1" name="Text 8"/>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FFAB00"/>
          </a:solidFill>
          <a:ln w="12700">
            <a:solidFill>
              <a:srgbClr val="FFAB00">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Trigger-based automation</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FFAB00"/>
                </a:solidFill>
              </a:rPr>
              <a:t>Pipeline starts when files arrive</a:t>
            </a:r>
            <a:endParaRPr lang="en-US" sz="1150" dirty="0"/>
          </a:p>
        </p:txBody>
      </p:sp>
      <p:sp>
        <p:nvSpPr>
          <p:cNvPr id="5" name="Text 3"/>
          <p:cNvSpPr/>
          <p:nvPr/>
        </p:nvSpPr>
        <p:spPr>
          <a:xfrm>
            <a:off x="685800" y="1389888"/>
            <a:ext cx="384048" cy="384048"/>
          </a:xfrm>
          <a:prstGeom prst="rect">
            <a:avLst/>
          </a:prstGeom>
          <a:solidFill>
            <a:srgbClr val="FFAB00"/>
          </a:solidFill>
          <a:ln>
            <a:solidFill>
              <a:srgbClr val="FFAB00"/>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197864" y="1371600"/>
            <a:ext cx="672084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Storage event trigger watches CSV file creation in the source container.</a:t>
            </a:r>
            <a:endParaRPr lang="en-US" sz="1850" dirty="0"/>
          </a:p>
        </p:txBody>
      </p:sp>
      <p:sp>
        <p:nvSpPr>
          <p:cNvPr id="7" name="Text 5"/>
          <p:cNvSpPr/>
          <p:nvPr/>
        </p:nvSpPr>
        <p:spPr>
          <a:xfrm>
            <a:off x="685800" y="2075688"/>
            <a:ext cx="384048" cy="384048"/>
          </a:xfrm>
          <a:prstGeom prst="rect">
            <a:avLst/>
          </a:prstGeom>
          <a:solidFill>
            <a:srgbClr val="FFAB00"/>
          </a:solidFill>
          <a:ln>
            <a:solidFill>
              <a:srgbClr val="FFAB00"/>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197864" y="2057400"/>
            <a:ext cx="598932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This satisfies notebook execution after files land in storage.</a:t>
            </a:r>
            <a:endParaRPr lang="en-US" sz="1850" dirty="0"/>
          </a:p>
        </p:txBody>
      </p:sp>
      <p:pic>
        <p:nvPicPr>
          <p:cNvPr id="9" name="Image 0" descr="/mnt/data/docx_extract/word/media/image50.png"/>
          <p:cNvPicPr>
            <a:picLocks noChangeAspect="1"/>
          </p:cNvPicPr>
          <p:nvPr/>
        </p:nvPicPr>
        <p:blipFill>
          <a:blip r:embed="rId3"/>
          <a:stretch>
            <a:fillRect/>
          </a:stretch>
        </p:blipFill>
        <p:spPr>
          <a:xfrm>
            <a:off x="3527062" y="2880360"/>
            <a:ext cx="4924517" cy="2606040"/>
          </a:xfrm>
          <a:prstGeom prst="rect">
            <a:avLst/>
          </a:prstGeom>
        </p:spPr>
      </p:pic>
      <p:sp>
        <p:nvSpPr>
          <p:cNvPr id="10" name="Text 7"/>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1" name="Text 8"/>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E11D48"/>
          </a:solidFill>
          <a:ln w="12700">
            <a:solidFill>
              <a:srgbClr val="E11D48">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PySpark processing logic</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E11D48"/>
                </a:solidFill>
              </a:rPr>
              <a:t>Notebook creates tables and reports</a:t>
            </a:r>
            <a:endParaRPr lang="en-US" sz="1150" dirty="0"/>
          </a:p>
        </p:txBody>
      </p:sp>
      <p:sp>
        <p:nvSpPr>
          <p:cNvPr id="5" name="Text 3"/>
          <p:cNvSpPr/>
          <p:nvPr/>
        </p:nvSpPr>
        <p:spPr>
          <a:xfrm>
            <a:off x="685800" y="1389888"/>
            <a:ext cx="384048" cy="384048"/>
          </a:xfrm>
          <a:prstGeom prst="rect">
            <a:avLst/>
          </a:prstGeom>
          <a:solidFill>
            <a:srgbClr val="E11D48"/>
          </a:solidFill>
          <a:ln>
            <a:solidFill>
              <a:srgbClr val="E11D48"/>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197864" y="1371600"/>
            <a:ext cx="525780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Reads source files, validates availability and cleans date columns.</a:t>
            </a:r>
            <a:endParaRPr lang="en-US" sz="1850" dirty="0"/>
          </a:p>
        </p:txBody>
      </p:sp>
      <p:sp>
        <p:nvSpPr>
          <p:cNvPr id="7" name="Text 5"/>
          <p:cNvSpPr/>
          <p:nvPr/>
        </p:nvSpPr>
        <p:spPr>
          <a:xfrm>
            <a:off x="685800" y="2075688"/>
            <a:ext cx="384048" cy="384048"/>
          </a:xfrm>
          <a:prstGeom prst="rect">
            <a:avLst/>
          </a:prstGeom>
          <a:solidFill>
            <a:srgbClr val="E11D48"/>
          </a:solidFill>
          <a:ln>
            <a:solidFill>
              <a:srgbClr val="E11D48"/>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197864" y="2057400"/>
            <a:ext cx="525780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Writes dimension, fact and report outputs as CSV and Delta tables.</a:t>
            </a:r>
            <a:endParaRPr lang="en-US" sz="1850" dirty="0"/>
          </a:p>
        </p:txBody>
      </p:sp>
      <p:pic>
        <p:nvPicPr>
          <p:cNvPr id="9" name="Image 0" descr="/mnt/data/docx_extract/word/media/image64.jpg"/>
          <p:cNvPicPr>
            <a:picLocks noChangeAspect="1"/>
          </p:cNvPicPr>
          <p:nvPr/>
        </p:nvPicPr>
        <p:blipFill>
          <a:blip r:embed="rId3"/>
          <a:stretch>
            <a:fillRect/>
          </a:stretch>
        </p:blipFill>
        <p:spPr>
          <a:xfrm>
            <a:off x="6720840" y="1869240"/>
            <a:ext cx="4434840" cy="2342280"/>
          </a:xfrm>
          <a:prstGeom prst="rect">
            <a:avLst/>
          </a:prstGeom>
        </p:spPr>
      </p:pic>
      <p:sp>
        <p:nvSpPr>
          <p:cNvPr id="10" name="Text 7"/>
          <p:cNvSpPr/>
          <p:nvPr/>
        </p:nvSpPr>
        <p:spPr>
          <a:xfrm>
            <a:off x="1097280" y="4343400"/>
            <a:ext cx="4206240" cy="777240"/>
          </a:xfrm>
          <a:prstGeom prst="rect">
            <a:avLst/>
          </a:prstGeom>
          <a:solidFill>
            <a:srgbClr val="FFFFFF"/>
          </a:solidFill>
          <a:ln w="15240">
            <a:solidFill>
              <a:srgbClr val="E11D48">
                <a:alpha val="85000"/>
              </a:srgbClr>
            </a:solidFill>
          </a:ln>
        </p:spPr>
        <p:txBody>
          <a:bodyPr wrap="square" rtlCol="0" anchor="ctr">
            <a:normAutofit/>
          </a:bodyPr>
          <a:lstStyle/>
          <a:p>
            <a:pPr marL="0" indent="0">
              <a:buNone/>
            </a:pPr>
            <a:r>
              <a:rPr lang="en-US" sz="1300" b="1" dirty="0">
                <a:solidFill>
                  <a:srgbClr val="1D2939"/>
                </a:solidFill>
                <a:latin typeface="Aptos" pitchFamily="34" charset="0"/>
                <a:ea typeface="Aptos" pitchFamily="34" charset="-122"/>
                <a:cs typeface="Aptos" pitchFamily="34" charset="-120"/>
              </a:rPr>
              <a:t>Notebook output</a:t>
            </a:r>
            <a:endParaRPr lang="en-US" sz="1300" dirty="0"/>
          </a:p>
          <a:p>
            <a:pPr marL="0" indent="0">
              <a:buNone/>
            </a:pPr>
            <a:r>
              <a:rPr lang="en-US" sz="1300" b="1" dirty="0">
                <a:solidFill>
                  <a:srgbClr val="1D2939"/>
                </a:solidFill>
                <a:latin typeface="Aptos" pitchFamily="34" charset="0"/>
                <a:ea typeface="Aptos" pitchFamily="34" charset="-122"/>
                <a:cs typeface="Aptos" pitchFamily="34" charset="-120"/>
              </a:rPr>
              <a:t>11 permanent Delta tables verified</a:t>
            </a:r>
            <a:endParaRPr lang="en-US" sz="1300" dirty="0"/>
          </a:p>
        </p:txBody>
      </p:sp>
      <p:sp>
        <p:nvSpPr>
          <p:cNvPr id="11" name="Text 8"/>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2" name="Text 9"/>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36B37E"/>
          </a:solidFill>
          <a:ln w="12700">
            <a:solidFill>
              <a:srgbClr val="36B37E">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Execution and output verification</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36B37E"/>
                </a:solidFill>
              </a:rPr>
              <a:t>ADF run + output folders verified</a:t>
            </a:r>
            <a:endParaRPr lang="en-US" sz="1150" dirty="0"/>
          </a:p>
        </p:txBody>
      </p:sp>
      <p:sp>
        <p:nvSpPr>
          <p:cNvPr id="5" name="Text 3"/>
          <p:cNvSpPr/>
          <p:nvPr/>
        </p:nvSpPr>
        <p:spPr>
          <a:xfrm>
            <a:off x="685800" y="1344168"/>
            <a:ext cx="384048" cy="384048"/>
          </a:xfrm>
          <a:prstGeom prst="rect">
            <a:avLst/>
          </a:prstGeom>
          <a:solidFill>
            <a:srgbClr val="36B37E"/>
          </a:solidFill>
          <a:ln>
            <a:solidFill>
              <a:srgbClr val="36B37E"/>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197864" y="1325880"/>
            <a:ext cx="676656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ADF monitoring shows Copy Data and Notebook activity succeeded.</a:t>
            </a:r>
            <a:endParaRPr lang="en-US" sz="1850" dirty="0"/>
          </a:p>
        </p:txBody>
      </p:sp>
      <p:sp>
        <p:nvSpPr>
          <p:cNvPr id="7" name="Text 5"/>
          <p:cNvSpPr/>
          <p:nvPr/>
        </p:nvSpPr>
        <p:spPr>
          <a:xfrm>
            <a:off x="685800" y="2011680"/>
            <a:ext cx="384048" cy="384048"/>
          </a:xfrm>
          <a:prstGeom prst="rect">
            <a:avLst/>
          </a:prstGeom>
          <a:solidFill>
            <a:srgbClr val="36B37E"/>
          </a:solidFill>
          <a:ln>
            <a:solidFill>
              <a:srgbClr val="36B37E"/>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197864" y="1993392"/>
            <a:ext cx="658368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ADLS destination contains dimension, fact and report output folders.</a:t>
            </a:r>
            <a:endParaRPr lang="en-US" sz="1850" dirty="0"/>
          </a:p>
        </p:txBody>
      </p:sp>
      <p:pic>
        <p:nvPicPr>
          <p:cNvPr id="9" name="Image 0" descr="/mnt/data/docx_extract/word/media/image56.png"/>
          <p:cNvPicPr>
            <a:picLocks noChangeAspect="1"/>
          </p:cNvPicPr>
          <p:nvPr/>
        </p:nvPicPr>
        <p:blipFill>
          <a:blip r:embed="rId3"/>
          <a:stretch>
            <a:fillRect/>
          </a:stretch>
        </p:blipFill>
        <p:spPr>
          <a:xfrm>
            <a:off x="1103529" y="2788920"/>
            <a:ext cx="4742382" cy="2514600"/>
          </a:xfrm>
          <a:prstGeom prst="rect">
            <a:avLst/>
          </a:prstGeom>
        </p:spPr>
      </p:pic>
      <p:pic>
        <p:nvPicPr>
          <p:cNvPr id="10" name="Image 1" descr="/mnt/data/docx_extract/word/media/image62.png"/>
          <p:cNvPicPr>
            <a:picLocks noChangeAspect="1"/>
          </p:cNvPicPr>
          <p:nvPr/>
        </p:nvPicPr>
        <p:blipFill>
          <a:blip r:embed="rId4"/>
          <a:stretch>
            <a:fillRect/>
          </a:stretch>
        </p:blipFill>
        <p:spPr>
          <a:xfrm>
            <a:off x="6505463" y="2788920"/>
            <a:ext cx="4728434" cy="2514600"/>
          </a:xfrm>
          <a:prstGeom prst="rect">
            <a:avLst/>
          </a:prstGeom>
        </p:spPr>
      </p:pic>
      <p:sp>
        <p:nvSpPr>
          <p:cNvPr id="11" name="Text 7"/>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2" name="Text 8"/>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6554C0"/>
          </a:solidFill>
          <a:ln w="12700">
            <a:solidFill>
              <a:srgbClr val="6554C0">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Reports generated</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6554C0"/>
                </a:solidFill>
              </a:rPr>
              <a:t>Final business-ready outputs</a:t>
            </a:r>
            <a:endParaRPr lang="en-US" sz="1150" dirty="0"/>
          </a:p>
        </p:txBody>
      </p:sp>
      <p:sp>
        <p:nvSpPr>
          <p:cNvPr id="5" name="Text 3"/>
          <p:cNvSpPr/>
          <p:nvPr/>
        </p:nvSpPr>
        <p:spPr>
          <a:xfrm>
            <a:off x="685800" y="1344168"/>
            <a:ext cx="384048" cy="384048"/>
          </a:xfrm>
          <a:prstGeom prst="rect">
            <a:avLst/>
          </a:prstGeom>
          <a:solidFill>
            <a:srgbClr val="6554C0"/>
          </a:solidFill>
          <a:ln>
            <a:solidFill>
              <a:srgbClr val="6554C0"/>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197864" y="1325880"/>
            <a:ext cx="685800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Reports include Top 10 Customers, State-wise Orders and Payment Mode.</a:t>
            </a:r>
            <a:endParaRPr lang="en-US" sz="1850" dirty="0"/>
          </a:p>
        </p:txBody>
      </p:sp>
      <p:sp>
        <p:nvSpPr>
          <p:cNvPr id="7" name="Text 5"/>
          <p:cNvSpPr/>
          <p:nvPr/>
        </p:nvSpPr>
        <p:spPr>
          <a:xfrm>
            <a:off x="685800" y="2011680"/>
            <a:ext cx="384048" cy="384048"/>
          </a:xfrm>
          <a:prstGeom prst="rect">
            <a:avLst/>
          </a:prstGeom>
          <a:solidFill>
            <a:srgbClr val="6554C0"/>
          </a:solidFill>
          <a:ln>
            <a:solidFill>
              <a:srgbClr val="6554C0"/>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197864" y="1993392"/>
            <a:ext cx="662940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Quarterly Profit and Quarterly Sales outputs were also generated.</a:t>
            </a:r>
            <a:endParaRPr lang="en-US" sz="1850" dirty="0"/>
          </a:p>
        </p:txBody>
      </p:sp>
      <p:pic>
        <p:nvPicPr>
          <p:cNvPr id="9" name="Image 0" descr="/mnt/data/docx_extract/word/media/image67.png"/>
          <p:cNvPicPr>
            <a:picLocks noChangeAspect="1"/>
          </p:cNvPicPr>
          <p:nvPr/>
        </p:nvPicPr>
        <p:blipFill>
          <a:blip r:embed="rId3"/>
          <a:stretch>
            <a:fillRect/>
          </a:stretch>
        </p:blipFill>
        <p:spPr>
          <a:xfrm>
            <a:off x="3579383" y="2834640"/>
            <a:ext cx="4728434" cy="2514600"/>
          </a:xfrm>
          <a:prstGeom prst="rect">
            <a:avLst/>
          </a:prstGeom>
        </p:spPr>
      </p:pic>
      <p:sp>
        <p:nvSpPr>
          <p:cNvPr id="10" name="Text 7"/>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1" name="Text 8"/>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00B8D9"/>
          </a:solidFill>
          <a:ln w="12700">
            <a:solidFill>
              <a:srgbClr val="00B8D9">
                <a:alpha val="0"/>
              </a:srgbClr>
            </a:solidFill>
            <a:prstDash val="solid"/>
          </a:ln>
        </p:spPr>
        <p:txBody>
          <a:bodyPr/>
          <a:lstStyle/>
          <a:p>
            <a:endParaRPr lang="en-IN"/>
          </a:p>
        </p:txBody>
      </p:sp>
      <p:sp>
        <p:nvSpPr>
          <p:cNvPr id="3" name="Text 1"/>
          <p:cNvSpPr/>
          <p:nvPr/>
        </p:nvSpPr>
        <p:spPr>
          <a:xfrm>
            <a:off x="594360" y="411480"/>
            <a:ext cx="7772400" cy="502920"/>
          </a:xfrm>
          <a:prstGeom prst="rect">
            <a:avLst/>
          </a:prstGeom>
          <a:noFill/>
          <a:ln/>
        </p:spPr>
        <p:txBody>
          <a:bodyPr wrap="square" lIns="0" tIns="0" rIns="0" bIns="0" rtlCol="0" anchor="ctr"/>
          <a:lstStyle/>
          <a:p>
            <a:pPr marL="0" indent="0">
              <a:buNone/>
            </a:pPr>
            <a:r>
              <a:rPr lang="en-US" sz="2800" b="1" dirty="0">
                <a:solidFill>
                  <a:srgbClr val="1D2939"/>
                </a:solidFill>
                <a:latin typeface="Aptos Display" pitchFamily="34" charset="0"/>
                <a:ea typeface="Aptos Display" pitchFamily="34" charset="-122"/>
                <a:cs typeface="Aptos Display" pitchFamily="34" charset="-120"/>
              </a:rPr>
              <a:t>Result and conclusion</a:t>
            </a:r>
            <a:endParaRPr lang="en-US" sz="2800" dirty="0"/>
          </a:p>
        </p:txBody>
      </p:sp>
      <p:sp>
        <p:nvSpPr>
          <p:cNvPr id="4" name="Text 2"/>
          <p:cNvSpPr/>
          <p:nvPr/>
        </p:nvSpPr>
        <p:spPr>
          <a:xfrm>
            <a:off x="621792" y="960120"/>
            <a:ext cx="6949440" cy="256032"/>
          </a:xfrm>
          <a:prstGeom prst="rect">
            <a:avLst/>
          </a:prstGeom>
          <a:noFill/>
          <a:ln/>
        </p:spPr>
        <p:txBody>
          <a:bodyPr wrap="square" lIns="0" tIns="0" rIns="0" bIns="0" rtlCol="0" anchor="ctr"/>
          <a:lstStyle/>
          <a:p>
            <a:pPr marL="0" indent="0">
              <a:buNone/>
            </a:pPr>
            <a:r>
              <a:rPr lang="en-US" sz="1150" b="1" dirty="0">
                <a:solidFill>
                  <a:srgbClr val="00B8D9"/>
                </a:solidFill>
              </a:rPr>
              <a:t>Project completed successfully</a:t>
            </a:r>
            <a:endParaRPr lang="en-US" sz="1150" dirty="0"/>
          </a:p>
        </p:txBody>
      </p:sp>
      <p:sp>
        <p:nvSpPr>
          <p:cNvPr id="5" name="Text 3"/>
          <p:cNvSpPr/>
          <p:nvPr/>
        </p:nvSpPr>
        <p:spPr>
          <a:xfrm>
            <a:off x="685800" y="1572768"/>
            <a:ext cx="384048" cy="384048"/>
          </a:xfrm>
          <a:prstGeom prst="rect">
            <a:avLst/>
          </a:prstGeom>
          <a:solidFill>
            <a:srgbClr val="00B8D9"/>
          </a:solidFill>
          <a:ln>
            <a:solidFill>
              <a:srgbClr val="00B8D9"/>
            </a:solid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197864" y="1554480"/>
            <a:ext cx="548640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End-to-end pipeline ran successfully from file upload to reports.</a:t>
            </a:r>
            <a:endParaRPr lang="en-US" sz="1850" dirty="0"/>
          </a:p>
        </p:txBody>
      </p:sp>
      <p:sp>
        <p:nvSpPr>
          <p:cNvPr id="7" name="Text 5"/>
          <p:cNvSpPr/>
          <p:nvPr/>
        </p:nvSpPr>
        <p:spPr>
          <a:xfrm>
            <a:off x="685800" y="2350008"/>
            <a:ext cx="384048" cy="384048"/>
          </a:xfrm>
          <a:prstGeom prst="rect">
            <a:avLst/>
          </a:prstGeom>
          <a:solidFill>
            <a:srgbClr val="00B8D9"/>
          </a:solidFill>
          <a:ln>
            <a:solidFill>
              <a:srgbClr val="00B8D9"/>
            </a:solid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8" name="Text 6"/>
          <p:cNvSpPr/>
          <p:nvPr/>
        </p:nvSpPr>
        <p:spPr>
          <a:xfrm>
            <a:off x="1197864" y="2331720"/>
            <a:ext cx="5486400" cy="438912"/>
          </a:xfrm>
          <a:prstGeom prst="rect">
            <a:avLst/>
          </a:prstGeom>
          <a:noFill/>
          <a:ln/>
        </p:spPr>
        <p:txBody>
          <a:bodyPr wrap="square" lIns="254" tIns="254" rIns="254" bIns="254" rtlCol="0" anchor="ctr">
            <a:normAutofit/>
          </a:bodyPr>
          <a:lstStyle/>
          <a:p>
            <a:pPr marL="0" indent="0">
              <a:buNone/>
            </a:pPr>
            <a:r>
              <a:rPr lang="en-US" sz="1850" b="1" dirty="0">
                <a:solidFill>
                  <a:srgbClr val="1D2939"/>
                </a:solidFill>
              </a:rPr>
              <a:t>Inventory data is now organized, verified and analytics-ready.</a:t>
            </a:r>
            <a:endParaRPr lang="en-US" sz="1850" dirty="0"/>
          </a:p>
        </p:txBody>
      </p:sp>
      <p:sp>
        <p:nvSpPr>
          <p:cNvPr id="9" name="Text 7"/>
          <p:cNvSpPr/>
          <p:nvPr/>
        </p:nvSpPr>
        <p:spPr>
          <a:xfrm>
            <a:off x="7498080" y="1554480"/>
            <a:ext cx="2560320" cy="274320"/>
          </a:xfrm>
          <a:prstGeom prst="rect">
            <a:avLst/>
          </a:prstGeom>
          <a:noFill/>
          <a:ln/>
        </p:spPr>
        <p:txBody>
          <a:bodyPr wrap="square" lIns="0" tIns="0" rIns="0" bIns="0" rtlCol="0" anchor="ctr"/>
          <a:lstStyle/>
          <a:p>
            <a:pPr marL="0" indent="0" algn="ctr">
              <a:buNone/>
            </a:pPr>
            <a:r>
              <a:rPr lang="en-US" sz="1300" b="1" dirty="0">
                <a:solidFill>
                  <a:srgbClr val="00B8D9"/>
                </a:solidFill>
              </a:rPr>
              <a:t>Business value</a:t>
            </a:r>
            <a:endParaRPr lang="en-US" sz="1300" dirty="0"/>
          </a:p>
        </p:txBody>
      </p:sp>
      <p:sp>
        <p:nvSpPr>
          <p:cNvPr id="10" name="Text 8"/>
          <p:cNvSpPr/>
          <p:nvPr/>
        </p:nvSpPr>
        <p:spPr>
          <a:xfrm>
            <a:off x="7315200" y="1993392"/>
            <a:ext cx="3108960" cy="2194560"/>
          </a:xfrm>
          <a:prstGeom prst="rect">
            <a:avLst/>
          </a:prstGeom>
          <a:solidFill>
            <a:srgbClr val="0B1F33"/>
          </a:solidFill>
          <a:ln>
            <a:solidFill>
              <a:srgbClr val="0B1F33"/>
            </a:solidFill>
          </a:ln>
        </p:spPr>
        <p:txBody>
          <a:bodyPr wrap="square" lIns="1524" tIns="1524" rIns="1524" bIns="1524" rtlCol="0" anchor="ctr">
            <a:normAutofit/>
          </a:bodyPr>
          <a:lstStyle/>
          <a:p>
            <a:pPr marL="0" indent="0" algn="ctr">
              <a:buNone/>
            </a:pPr>
            <a:r>
              <a:rPr lang="en-US" sz="2800" b="1" dirty="0">
                <a:solidFill>
                  <a:srgbClr val="FFFFFF"/>
                </a:solidFill>
              </a:rPr>
              <a:t>Automation</a:t>
            </a:r>
            <a:endParaRPr lang="en-US" sz="2800" dirty="0"/>
          </a:p>
          <a:p>
            <a:pPr marL="0" indent="0" algn="ctr">
              <a:buNone/>
            </a:pPr>
            <a:r>
              <a:rPr lang="en-US" sz="2800" b="1" dirty="0">
                <a:solidFill>
                  <a:srgbClr val="FFFFFF"/>
                </a:solidFill>
              </a:rPr>
              <a:t>+</a:t>
            </a:r>
            <a:endParaRPr lang="en-US" sz="2800" dirty="0"/>
          </a:p>
          <a:p>
            <a:pPr marL="0" indent="0" algn="ctr">
              <a:buNone/>
            </a:pPr>
            <a:r>
              <a:rPr lang="en-US" sz="2800" b="1" dirty="0">
                <a:solidFill>
                  <a:srgbClr val="FFFFFF"/>
                </a:solidFill>
              </a:rPr>
              <a:t>Clean Tables</a:t>
            </a:r>
            <a:endParaRPr lang="en-US" sz="2800" dirty="0"/>
          </a:p>
          <a:p>
            <a:pPr marL="0" indent="0" algn="ctr">
              <a:buNone/>
            </a:pPr>
            <a:r>
              <a:rPr lang="en-US" sz="2800" b="1" dirty="0">
                <a:solidFill>
                  <a:srgbClr val="FFFFFF"/>
                </a:solidFill>
              </a:rPr>
              <a:t>+</a:t>
            </a:r>
            <a:endParaRPr lang="en-US" sz="2800" dirty="0"/>
          </a:p>
          <a:p>
            <a:pPr marL="0" indent="0" algn="ctr">
              <a:buNone/>
            </a:pPr>
            <a:r>
              <a:rPr lang="en-US" sz="2800" b="1" dirty="0">
                <a:solidFill>
                  <a:srgbClr val="FFFFFF"/>
                </a:solidFill>
              </a:rPr>
              <a:t>Reports</a:t>
            </a:r>
            <a:endParaRPr lang="en-US" sz="2800" dirty="0"/>
          </a:p>
        </p:txBody>
      </p:sp>
      <p:sp>
        <p:nvSpPr>
          <p:cNvPr id="11" name="Text 9"/>
          <p:cNvSpPr/>
          <p:nvPr/>
        </p:nvSpPr>
        <p:spPr>
          <a:xfrm>
            <a:off x="7315200" y="4937760"/>
            <a:ext cx="3108960" cy="457200"/>
          </a:xfrm>
          <a:prstGeom prst="rect">
            <a:avLst/>
          </a:prstGeom>
          <a:noFill/>
          <a:ln/>
        </p:spPr>
        <p:txBody>
          <a:bodyPr wrap="square" lIns="0" tIns="0" rIns="0" bIns="0" rtlCol="0" anchor="ctr"/>
          <a:lstStyle/>
          <a:p>
            <a:pPr marL="0" indent="0" algn="ctr">
              <a:buNone/>
            </a:pPr>
            <a:r>
              <a:rPr lang="en-US" sz="2500" b="1" dirty="0">
                <a:solidFill>
                  <a:srgbClr val="1D2939"/>
                </a:solidFill>
              </a:rPr>
              <a:t>Thank You</a:t>
            </a:r>
            <a:endParaRPr lang="en-US" sz="2500" dirty="0"/>
          </a:p>
        </p:txBody>
      </p:sp>
      <p:sp>
        <p:nvSpPr>
          <p:cNvPr id="12" name="Text 10"/>
          <p:cNvSpPr/>
          <p:nvPr/>
        </p:nvSpPr>
        <p:spPr>
          <a:xfrm>
            <a:off x="457200" y="6510528"/>
            <a:ext cx="6217920" cy="201168"/>
          </a:xfrm>
          <a:prstGeom prst="rect">
            <a:avLst/>
          </a:prstGeom>
          <a:noFill/>
          <a:ln/>
        </p:spPr>
        <p:txBody>
          <a:bodyPr wrap="square" lIns="0" tIns="0" rIns="0" bIns="0" rtlCol="0" anchor="ctr"/>
          <a:lstStyle/>
          <a:p>
            <a:pPr marL="0" indent="0">
              <a:buNone/>
            </a:pPr>
            <a:r>
              <a:rPr lang="en-US" sz="850" dirty="0">
                <a:solidFill>
                  <a:srgbClr val="667085"/>
                </a:solidFill>
                <a:latin typeface="Aptos" pitchFamily="34" charset="0"/>
                <a:ea typeface="Aptos" pitchFamily="34" charset="-122"/>
                <a:cs typeface="Aptos" pitchFamily="34" charset="-120"/>
              </a:rPr>
              <a:t>Inventory Management Analysis &amp; Reporting System</a:t>
            </a:r>
            <a:endParaRPr lang="en-US" sz="850" dirty="0"/>
          </a:p>
        </p:txBody>
      </p:sp>
      <p:sp>
        <p:nvSpPr>
          <p:cNvPr id="13" name="Text 11"/>
          <p:cNvSpPr/>
          <p:nvPr/>
        </p:nvSpPr>
        <p:spPr>
          <a:xfrm>
            <a:off x="11155680" y="6473952"/>
            <a:ext cx="502920" cy="228600"/>
          </a:xfrm>
          <a:prstGeom prst="rect">
            <a:avLst/>
          </a:prstGeom>
          <a:noFill/>
          <a:ln/>
        </p:spPr>
        <p:txBody>
          <a:bodyPr wrap="square" lIns="0" tIns="0" rIns="0" bIns="0" rtlCol="0" anchor="ctr"/>
          <a:lstStyle/>
          <a:p>
            <a:pPr marL="0" indent="0" algn="r">
              <a:buNone/>
            </a:pPr>
            <a:r>
              <a:rPr lang="en-US" sz="900" dirty="0">
                <a:solidFill>
                  <a:srgbClr val="667085"/>
                </a:solidFill>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692</TotalTime>
  <Words>1101</Words>
  <Application>Microsoft Office PowerPoint</Application>
  <PresentationFormat>Widescreen</PresentationFormat>
  <Paragraphs>157</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Hexaware Data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PySpark Project - Inventory Management</dc:title>
  <dc:subject>Inventory Management Analysis and Reporting System</dc:subject>
  <dc:creator>Prashanth R</dc:creator>
  <cp:lastModifiedBy>Harshini G</cp:lastModifiedBy>
  <cp:revision>5</cp:revision>
  <dcterms:created xsi:type="dcterms:W3CDTF">2026-06-09T10:25:16Z</dcterms:created>
  <dcterms:modified xsi:type="dcterms:W3CDTF">2026-06-10T05:27:12Z</dcterms:modified>
</cp:coreProperties>
</file>